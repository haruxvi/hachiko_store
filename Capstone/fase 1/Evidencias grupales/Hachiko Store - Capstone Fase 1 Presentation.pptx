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Inter SemiBold"/>
      <p:regular r:id="rId19"/>
      <p:bold r:id="rId20"/>
      <p:italic r:id="rId21"/>
      <p:boldItalic r:id="rId22"/>
    </p:embeddedFont>
    <p:embeddedFont>
      <p:font typeface="Poppins"/>
      <p:regular r:id="rId23"/>
      <p:bold r:id="rId24"/>
      <p:italic r:id="rId25"/>
      <p:boldItalic r:id="rId26"/>
    </p:embeddedFont>
    <p:embeddedFont>
      <p:font typeface="Inter"/>
      <p:regular r:id="rId27"/>
      <p:bold r:id="rId28"/>
      <p:italic r:id="rId29"/>
      <p:boldItalic r:id="rId30"/>
    </p:embeddedFont>
    <p:embeddedFont>
      <p:font typeface="Poppins SemiBold"/>
      <p:regular r:id="rId31"/>
      <p:bold r:id="rId32"/>
      <p:italic r:id="rId33"/>
      <p:boldItalic r:id="rId34"/>
    </p:embeddedFont>
    <p:embeddedFont>
      <p:font typeface="Inter Medium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9" roundtripDataSignature="AMtx7miiPITk7x28Y/BsknbIPE1pbN6m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D10B846-4104-4DA6-8721-62E52F53C60E}">
  <a:tblStyle styleId="{ED10B846-4104-4DA6-8721-62E52F53C60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.fntdata"/><Relationship Id="rId22" Type="http://schemas.openxmlformats.org/officeDocument/2006/relationships/font" Target="fonts/InterSemiBold-boldItalic.fntdata"/><Relationship Id="rId21" Type="http://schemas.openxmlformats.org/officeDocument/2006/relationships/font" Target="fonts/InterSemiBold-italic.fntdata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28" Type="http://schemas.openxmlformats.org/officeDocument/2006/relationships/font" Target="fonts/Inter-bold.fntdata"/><Relationship Id="rId27" Type="http://schemas.openxmlformats.org/officeDocument/2006/relationships/font" Target="fonts/Inter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SemiBold-regular.fntdata"/><Relationship Id="rId30" Type="http://schemas.openxmlformats.org/officeDocument/2006/relationships/font" Target="fonts/Inter-boldItalic.fntdata"/><Relationship Id="rId11" Type="http://schemas.openxmlformats.org/officeDocument/2006/relationships/slide" Target="slides/slide5.xml"/><Relationship Id="rId33" Type="http://schemas.openxmlformats.org/officeDocument/2006/relationships/font" Target="fonts/PoppinsSemiBold-italic.fntdata"/><Relationship Id="rId10" Type="http://schemas.openxmlformats.org/officeDocument/2006/relationships/slide" Target="slides/slide4.xml"/><Relationship Id="rId32" Type="http://schemas.openxmlformats.org/officeDocument/2006/relationships/font" Target="fonts/PoppinsSemiBold-bold.fntdata"/><Relationship Id="rId13" Type="http://schemas.openxmlformats.org/officeDocument/2006/relationships/slide" Target="slides/slide7.xml"/><Relationship Id="rId35" Type="http://schemas.openxmlformats.org/officeDocument/2006/relationships/font" Target="fonts/InterMedium-regular.fntdata"/><Relationship Id="rId12" Type="http://schemas.openxmlformats.org/officeDocument/2006/relationships/slide" Target="slides/slide6.xml"/><Relationship Id="rId34" Type="http://schemas.openxmlformats.org/officeDocument/2006/relationships/font" Target="fonts/PoppinsSemiBold-boldItalic.fntdata"/><Relationship Id="rId15" Type="http://schemas.openxmlformats.org/officeDocument/2006/relationships/slide" Target="slides/slide9.xml"/><Relationship Id="rId37" Type="http://schemas.openxmlformats.org/officeDocument/2006/relationships/font" Target="fonts/InterMedium-italic.fntdata"/><Relationship Id="rId14" Type="http://schemas.openxmlformats.org/officeDocument/2006/relationships/slide" Target="slides/slide8.xml"/><Relationship Id="rId36" Type="http://schemas.openxmlformats.org/officeDocument/2006/relationships/font" Target="fonts/InterMedium-bold.fntdata"/><Relationship Id="rId17" Type="http://schemas.openxmlformats.org/officeDocument/2006/relationships/slide" Target="slides/slide11.xml"/><Relationship Id="rId39" Type="http://customschemas.google.com/relationships/presentationmetadata" Target="metadata"/><Relationship Id="rId16" Type="http://schemas.openxmlformats.org/officeDocument/2006/relationships/slide" Target="slides/slide10.xml"/><Relationship Id="rId38" Type="http://schemas.openxmlformats.org/officeDocument/2006/relationships/font" Target="fonts/InterMedium-boldItalic.fntdata"/><Relationship Id="rId19" Type="http://schemas.openxmlformats.org/officeDocument/2006/relationships/font" Target="fonts/InterSemiBold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1.png"/><Relationship Id="rId7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5.png"/><Relationship Id="rId7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26.png"/><Relationship Id="rId11" Type="http://schemas.openxmlformats.org/officeDocument/2006/relationships/image" Target="../media/image23.png"/><Relationship Id="rId10" Type="http://schemas.openxmlformats.org/officeDocument/2006/relationships/image" Target="../media/image22.png"/><Relationship Id="rId9" Type="http://schemas.openxmlformats.org/officeDocument/2006/relationships/image" Target="../media/image20.png"/><Relationship Id="rId5" Type="http://schemas.openxmlformats.org/officeDocument/2006/relationships/image" Target="../media/image17.png"/><Relationship Id="rId6" Type="http://schemas.openxmlformats.org/officeDocument/2006/relationships/image" Target="../media/image16.png"/><Relationship Id="rId7" Type="http://schemas.openxmlformats.org/officeDocument/2006/relationships/image" Target="../media/image21.png"/><Relationship Id="rId8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26.png"/><Relationship Id="rId11" Type="http://schemas.openxmlformats.org/officeDocument/2006/relationships/image" Target="../media/image27.png"/><Relationship Id="rId10" Type="http://schemas.openxmlformats.org/officeDocument/2006/relationships/image" Target="../media/image25.png"/><Relationship Id="rId12" Type="http://schemas.openxmlformats.org/officeDocument/2006/relationships/image" Target="../media/image28.png"/><Relationship Id="rId9" Type="http://schemas.openxmlformats.org/officeDocument/2006/relationships/image" Target="../media/image20.png"/><Relationship Id="rId5" Type="http://schemas.openxmlformats.org/officeDocument/2006/relationships/image" Target="../media/image17.png"/><Relationship Id="rId6" Type="http://schemas.openxmlformats.org/officeDocument/2006/relationships/image" Target="../media/image24.png"/><Relationship Id="rId7" Type="http://schemas.openxmlformats.org/officeDocument/2006/relationships/image" Target="../media/image21.png"/><Relationship Id="rId8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42.png"/><Relationship Id="rId10" Type="http://schemas.openxmlformats.org/officeDocument/2006/relationships/image" Target="../media/image40.png"/><Relationship Id="rId13" Type="http://schemas.openxmlformats.org/officeDocument/2006/relationships/image" Target="../media/image44.png"/><Relationship Id="rId1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41.png"/><Relationship Id="rId15" Type="http://schemas.openxmlformats.org/officeDocument/2006/relationships/image" Target="../media/image45.png"/><Relationship Id="rId14" Type="http://schemas.openxmlformats.org/officeDocument/2006/relationships/image" Target="../media/image46.png"/><Relationship Id="rId17" Type="http://schemas.openxmlformats.org/officeDocument/2006/relationships/image" Target="../media/image49.png"/><Relationship Id="rId16" Type="http://schemas.openxmlformats.org/officeDocument/2006/relationships/image" Target="../media/image47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0.png"/><Relationship Id="rId4" Type="http://schemas.openxmlformats.org/officeDocument/2006/relationships/image" Target="../media/image5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1625" y="3954660"/>
            <a:ext cx="9048750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3873222" y="2617440"/>
            <a:ext cx="4445555" cy="6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HACHIKO STORE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2443162" y="3373635"/>
            <a:ext cx="73056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BBF24"/>
                </a:solidFill>
                <a:latin typeface="Inter Medium"/>
                <a:ea typeface="Inter Medium"/>
                <a:cs typeface="Inter Medium"/>
                <a:sym typeface="Inter Medium"/>
              </a:rPr>
              <a:t>Plataforma Inteligente de Gestión Empresarial para PyMEs Importadoras</a:t>
            </a:r>
            <a:endParaRPr/>
          </a:p>
        </p:txBody>
      </p:sp>
      <p:pic>
        <p:nvPicPr>
          <p:cNvPr descr="image.png" id="88" name="Google Shape;8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29100" y="2255490"/>
            <a:ext cx="3733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2871787" y="4202310"/>
            <a:ext cx="32766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Integrantes del Equipo</a:t>
            </a: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Christ Louidor · Vicente Donoso · Nelson Zarate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6529387" y="4202310"/>
            <a:ext cx="15335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Institución &amp; Sede</a:t>
            </a: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Duoc UC · Plaza Norte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8443912" y="4202310"/>
            <a:ext cx="8763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Fecha</a:t>
            </a: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Agosto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81262"/>
            <a:ext cx="5381625" cy="2762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481262"/>
            <a:ext cx="5381625" cy="27622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2942"/>
                </a:solidFill>
                <a:latin typeface="Poppins"/>
                <a:ea typeface="Poppins"/>
                <a:cs typeface="Poppins"/>
                <a:sym typeface="Poppins"/>
              </a:rPr>
              <a:t>Resumen Ejecutivo &amp; Contexto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571500" y="1076325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0" name="Google Shape;10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48925" y="604837"/>
            <a:ext cx="11715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/>
          <p:nvPr/>
        </p:nvSpPr>
        <p:spPr>
          <a:xfrm>
            <a:off x="1209675" y="2776537"/>
            <a:ext cx="4670583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Desafíos de la PyME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6829425" y="2776537"/>
            <a:ext cx="472059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97706"/>
                </a:solidFill>
                <a:latin typeface="Poppins"/>
                <a:ea typeface="Poppins"/>
                <a:cs typeface="Poppins"/>
                <a:sym typeface="Poppins"/>
              </a:rPr>
              <a:t>Solución Hachiko Store</a:t>
            </a:r>
            <a:endParaRPr/>
          </a:p>
        </p:txBody>
      </p:sp>
      <p:pic>
        <p:nvPicPr>
          <p:cNvPr descr="image.png" id="103" name="Google Shape;103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4875" y="2828925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"/>
          <p:cNvSpPr txBox="1"/>
          <p:nvPr/>
        </p:nvSpPr>
        <p:spPr>
          <a:xfrm>
            <a:off x="1133475" y="3233737"/>
            <a:ext cx="4524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Comercialización de Nicho: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Importación e e-commerce de productos coreanos (snacks, skincare, k-pop).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1133475" y="3805237"/>
            <a:ext cx="4524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Control en Tiempo Real: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Riesgo constante de sobreventa y falta de previsión de stock importado.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1133475" y="4376737"/>
            <a:ext cx="4524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Cumplimiento Normativo Exigente: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Requerimientos de la Ley 21.719 de datos personales y normativa SII.</a:t>
            </a:r>
            <a:endParaRPr/>
          </a:p>
        </p:txBody>
      </p:sp>
      <p:pic>
        <p:nvPicPr>
          <p:cNvPr descr="image.png" id="107" name="Google Shape;107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72250" y="2828925"/>
            <a:ext cx="1619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"/>
          <p:cNvSpPr txBox="1"/>
          <p:nvPr/>
        </p:nvSpPr>
        <p:spPr>
          <a:xfrm>
            <a:off x="6800850" y="3233737"/>
            <a:ext cx="4524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E-Commerce Full-Stack: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Next.js 16 con arquitectura de renderizado híbrido y PostgreSQL serverless.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6800850" y="3805237"/>
            <a:ext cx="4524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Inteligencia de Negocios: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Plano analítico separado operando con metodología CRISP-DM.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6800850" y="4376737"/>
            <a:ext cx="4524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Seguridad por Diseño: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Cifrado de datos personales, 2FA TOTP y bitácoras inmutables auditoras.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952500" y="321468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Inter"/>
                <a:ea typeface="Inter"/>
                <a:cs typeface="Inter"/>
                <a:sym typeface="Inter"/>
              </a:rPr>
              <a:t>▪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952500" y="378618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Inter"/>
                <a:ea typeface="Inter"/>
                <a:cs typeface="Inter"/>
                <a:sym typeface="Inter"/>
              </a:rPr>
              <a:t>▪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952500" y="435768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Inter"/>
                <a:ea typeface="Inter"/>
                <a:cs typeface="Inter"/>
                <a:sym typeface="Inter"/>
              </a:rPr>
              <a:t>▪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6619875" y="321468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Inter"/>
                <a:ea typeface="Inter"/>
                <a:cs typeface="Inter"/>
                <a:sym typeface="Inter"/>
              </a:rPr>
              <a:t>▪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6619875" y="378618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Inter"/>
                <a:ea typeface="Inter"/>
                <a:cs typeface="Inter"/>
                <a:sym typeface="Inter"/>
              </a:rPr>
              <a:t>▪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6619875" y="435768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Inter"/>
                <a:ea typeface="Inter"/>
                <a:cs typeface="Inter"/>
                <a:sym typeface="Inter"/>
              </a:rPr>
              <a:t>▪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195512"/>
            <a:ext cx="5381625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195512"/>
            <a:ext cx="538162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3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2942"/>
                </a:solidFill>
                <a:latin typeface="Poppins"/>
                <a:ea typeface="Poppins"/>
                <a:cs typeface="Poppins"/>
                <a:sym typeface="Poppins"/>
              </a:rPr>
              <a:t>Arquitectura en Dos Planos</a:t>
            </a:r>
            <a:endParaRPr/>
          </a:p>
        </p:txBody>
      </p:sp>
      <p:sp>
        <p:nvSpPr>
          <p:cNvPr id="124" name="Google Shape;124;p3"/>
          <p:cNvSpPr/>
          <p:nvPr/>
        </p:nvSpPr>
        <p:spPr>
          <a:xfrm>
            <a:off x="571500" y="1076325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5" name="Google Shape;12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44050" y="604837"/>
            <a:ext cx="2076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3"/>
          <p:cNvSpPr txBox="1"/>
          <p:nvPr/>
        </p:nvSpPr>
        <p:spPr>
          <a:xfrm>
            <a:off x="1209675" y="2490787"/>
            <a:ext cx="4670583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Plano Operacional (OLTP)</a:t>
            </a: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6877050" y="2490787"/>
            <a:ext cx="4670583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97706"/>
                </a:solidFill>
                <a:latin typeface="Poppins"/>
                <a:ea typeface="Poppins"/>
                <a:cs typeface="Poppins"/>
                <a:sym typeface="Poppins"/>
              </a:rPr>
              <a:t>Plano Analítico &amp; ML</a:t>
            </a:r>
            <a:endParaRPr/>
          </a:p>
        </p:txBody>
      </p:sp>
      <p:pic>
        <p:nvPicPr>
          <p:cNvPr descr="image.png" id="128" name="Google Shape;128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4875" y="2543175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3"/>
          <p:cNvSpPr txBox="1"/>
          <p:nvPr/>
        </p:nvSpPr>
        <p:spPr>
          <a:xfrm>
            <a:off x="1133475" y="2947987"/>
            <a:ext cx="4524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Next.js 16 + App Router: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Renderizado híbrido (SSR/ISR) para rendimiento optimizado y SEO.</a:t>
            </a:r>
            <a:endParaRPr/>
          </a:p>
        </p:txBody>
      </p:sp>
      <p:sp>
        <p:nvSpPr>
          <p:cNvPr id="130" name="Google Shape;130;p3"/>
          <p:cNvSpPr txBox="1"/>
          <p:nvPr/>
        </p:nvSpPr>
        <p:spPr>
          <a:xfrm>
            <a:off x="1133475" y="3519487"/>
            <a:ext cx="4524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PostgreSQL (Neon) + Prisma 6.x: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Esquema relacional estricto y pool de conexiones serverless.</a:t>
            </a:r>
            <a:endParaRPr/>
          </a:p>
        </p:txBody>
      </p:sp>
      <p:sp>
        <p:nvSpPr>
          <p:cNvPr id="131" name="Google Shape;131;p3"/>
          <p:cNvSpPr txBox="1"/>
          <p:nvPr/>
        </p:nvSpPr>
        <p:spPr>
          <a:xfrm>
            <a:off x="1133475" y="4090987"/>
            <a:ext cx="4524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Transaccionalidad Serializable: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Aislamiento ACID en compras para prevenir colisiones de stock.</a:t>
            </a:r>
            <a:endParaRPr/>
          </a:p>
        </p:txBody>
      </p:sp>
      <p:sp>
        <p:nvSpPr>
          <p:cNvPr id="132" name="Google Shape;132;p3"/>
          <p:cNvSpPr txBox="1"/>
          <p:nvPr/>
        </p:nvSpPr>
        <p:spPr>
          <a:xfrm>
            <a:off x="1133475" y="4662487"/>
            <a:ext cx="4524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Tienda Pública &amp; Backoffice: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Interfaz reactiva para clientes e inventario en tiempo real.</a:t>
            </a:r>
            <a:endParaRPr/>
          </a:p>
        </p:txBody>
      </p:sp>
      <p:pic>
        <p:nvPicPr>
          <p:cNvPr descr="image.png" id="133" name="Google Shape;133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72250" y="2543175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3"/>
          <p:cNvSpPr txBox="1"/>
          <p:nvPr/>
        </p:nvSpPr>
        <p:spPr>
          <a:xfrm>
            <a:off x="6800850" y="2947987"/>
            <a:ext cx="4524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Aislamiento de Cargas: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Entorno Python independiente sin sobrecargar el servidor de ventas.</a:t>
            </a:r>
            <a:endParaRPr/>
          </a:p>
        </p:txBody>
      </p:sp>
      <p:sp>
        <p:nvSpPr>
          <p:cNvPr id="135" name="Google Shape;135;p3"/>
          <p:cNvSpPr txBox="1"/>
          <p:nvPr/>
        </p:nvSpPr>
        <p:spPr>
          <a:xfrm>
            <a:off x="6800850" y="3519487"/>
            <a:ext cx="4524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Procesamiento Batch (Cron):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Pipelines MLOps ejecutados programadamente en GitHub Actions.</a:t>
            </a:r>
            <a:endParaRPr/>
          </a:p>
        </p:txBody>
      </p:sp>
      <p:sp>
        <p:nvSpPr>
          <p:cNvPr id="136" name="Google Shape;136;p3"/>
          <p:cNvSpPr txBox="1"/>
          <p:nvPr/>
        </p:nvSpPr>
        <p:spPr>
          <a:xfrm>
            <a:off x="6800850" y="4090987"/>
            <a:ext cx="4524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Modelos CRISP-DM: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Predicción de demanda, segmentación RFM y scoring de riesgo de fraude.</a:t>
            </a:r>
            <a:endParaRPr/>
          </a:p>
        </p:txBody>
      </p:sp>
      <p:sp>
        <p:nvSpPr>
          <p:cNvPr id="137" name="Google Shape;137;p3"/>
          <p:cNvSpPr txBox="1"/>
          <p:nvPr/>
        </p:nvSpPr>
        <p:spPr>
          <a:xfrm>
            <a:off x="6800850" y="4662487"/>
            <a:ext cx="4524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Despliegue Asíncrono: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Exportación de artefactos analíticos consumidos por la interfaz gerencial.</a:t>
            </a:r>
            <a:endParaRPr/>
          </a:p>
        </p:txBody>
      </p:sp>
      <p:sp>
        <p:nvSpPr>
          <p:cNvPr id="138" name="Google Shape;138;p3"/>
          <p:cNvSpPr txBox="1"/>
          <p:nvPr/>
        </p:nvSpPr>
        <p:spPr>
          <a:xfrm>
            <a:off x="952500" y="292893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Inter"/>
                <a:ea typeface="Inter"/>
                <a:cs typeface="Inter"/>
                <a:sym typeface="Inter"/>
              </a:rPr>
              <a:t>▪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952500" y="350043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Inter"/>
                <a:ea typeface="Inter"/>
                <a:cs typeface="Inter"/>
                <a:sym typeface="Inter"/>
              </a:rPr>
              <a:t>▪</a:t>
            </a:r>
            <a:endParaRPr/>
          </a:p>
        </p:txBody>
      </p:sp>
      <p:sp>
        <p:nvSpPr>
          <p:cNvPr id="140" name="Google Shape;140;p3"/>
          <p:cNvSpPr txBox="1"/>
          <p:nvPr/>
        </p:nvSpPr>
        <p:spPr>
          <a:xfrm>
            <a:off x="952500" y="407193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Inter"/>
                <a:ea typeface="Inter"/>
                <a:cs typeface="Inter"/>
                <a:sym typeface="Inter"/>
              </a:rPr>
              <a:t>▪</a:t>
            </a:r>
            <a:endParaRPr/>
          </a:p>
        </p:txBody>
      </p:sp>
      <p:sp>
        <p:nvSpPr>
          <p:cNvPr id="141" name="Google Shape;141;p3"/>
          <p:cNvSpPr txBox="1"/>
          <p:nvPr/>
        </p:nvSpPr>
        <p:spPr>
          <a:xfrm>
            <a:off x="952500" y="464343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Inter"/>
                <a:ea typeface="Inter"/>
                <a:cs typeface="Inter"/>
                <a:sym typeface="Inter"/>
              </a:rPr>
              <a:t>▪</a:t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6619875" y="292893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Inter"/>
                <a:ea typeface="Inter"/>
                <a:cs typeface="Inter"/>
                <a:sym typeface="Inter"/>
              </a:rPr>
              <a:t>▪</a:t>
            </a:r>
            <a:endParaRPr/>
          </a:p>
        </p:txBody>
      </p:sp>
      <p:sp>
        <p:nvSpPr>
          <p:cNvPr id="143" name="Google Shape;143;p3"/>
          <p:cNvSpPr txBox="1"/>
          <p:nvPr/>
        </p:nvSpPr>
        <p:spPr>
          <a:xfrm>
            <a:off x="6619875" y="350043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Inter"/>
                <a:ea typeface="Inter"/>
                <a:cs typeface="Inter"/>
                <a:sym typeface="Inter"/>
              </a:rPr>
              <a:t>▪</a:t>
            </a:r>
            <a:endParaRPr/>
          </a:p>
        </p:txBody>
      </p:sp>
      <p:sp>
        <p:nvSpPr>
          <p:cNvPr id="144" name="Google Shape;144;p3"/>
          <p:cNvSpPr txBox="1"/>
          <p:nvPr/>
        </p:nvSpPr>
        <p:spPr>
          <a:xfrm>
            <a:off x="6619875" y="407193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Inter"/>
                <a:ea typeface="Inter"/>
                <a:cs typeface="Inter"/>
                <a:sym typeface="Inter"/>
              </a:rPr>
              <a:t>▪</a:t>
            </a:r>
            <a:endParaRPr/>
          </a:p>
        </p:txBody>
      </p:sp>
      <p:sp>
        <p:nvSpPr>
          <p:cNvPr id="145" name="Google Shape;145;p3"/>
          <p:cNvSpPr txBox="1"/>
          <p:nvPr/>
        </p:nvSpPr>
        <p:spPr>
          <a:xfrm>
            <a:off x="6619875" y="464343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Inter"/>
                <a:ea typeface="Inter"/>
                <a:cs typeface="Inter"/>
                <a:sym typeface="Inter"/>
              </a:rPr>
              <a:t>▪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2942"/>
                </a:solidFill>
                <a:latin typeface="Poppins"/>
                <a:ea typeface="Poppins"/>
                <a:cs typeface="Poppins"/>
                <a:sym typeface="Poppins"/>
              </a:rPr>
              <a:t>Stack Tecnológico Seleccionado</a:t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571500" y="1076325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2" name="Google Shape;15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7400" y="604837"/>
            <a:ext cx="19431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4"/>
          <p:cNvSpPr/>
          <p:nvPr/>
        </p:nvSpPr>
        <p:spPr>
          <a:xfrm>
            <a:off x="571500" y="2431256"/>
            <a:ext cx="11049000" cy="2862262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4" name="Google Shape;154;p4"/>
          <p:cNvGraphicFramePr/>
          <p:nvPr/>
        </p:nvGraphicFramePr>
        <p:xfrm>
          <a:off x="571500" y="243125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{ED10B846-4104-4DA6-8721-62E52F53C60E}</a:tableStyleId>
              </a:tblPr>
              <a:tblGrid>
                <a:gridCol w="2565500"/>
                <a:gridCol w="3443150"/>
                <a:gridCol w="5030825"/>
              </a:tblGrid>
              <a:tr h="477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Capa del Sistema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19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Tecnología Adoptada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19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Propósito y Ventaja Clave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192C"/>
                    </a:solidFill>
                  </a:tcPr>
                </a:tc>
              </a:tr>
              <a:tr h="477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Framework Frontend / Backend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Next.js 16 (App Router) + TypeScript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Server Actions, RSC y renderizado optimizado para velocidad.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Base de Datos &amp; ORM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PostgreSQL (Neon) + Prisma 6.x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Esquema relacional estricto con soporte serverless y transacciones.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77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Autenticación &amp; Seguridad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Argon2id + JWT + TOTP (jose / iron-session)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Cifrado de alto costo computacional y segundo factor obligatorio.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Pasarelas de Pago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Webpay Plus SDK + MercadoPago SDK v2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Confirmación server-side idempotente y cumplimiento tributario.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77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Machine Learning &amp; MLOps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Python 3.12 + Scikit-Learn + GitHub Actions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Modelado predictivo ejecutado en cron batch sin costo en Vercel.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5" name="Google Shape;155;p4"/>
          <p:cNvSpPr/>
          <p:nvPr/>
        </p:nvSpPr>
        <p:spPr>
          <a:xfrm>
            <a:off x="576262" y="3393281"/>
            <a:ext cx="25654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3141761" y="3393281"/>
            <a:ext cx="34431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6584900" y="3393281"/>
            <a:ext cx="50308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576262" y="3864768"/>
            <a:ext cx="25654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3141761" y="3864768"/>
            <a:ext cx="34431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6584900" y="3864768"/>
            <a:ext cx="50308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576262" y="4336256"/>
            <a:ext cx="25654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3141761" y="4336256"/>
            <a:ext cx="34431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6584900" y="4336256"/>
            <a:ext cx="50308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576262" y="4807743"/>
            <a:ext cx="25654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3141761" y="4807743"/>
            <a:ext cx="34431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6584900" y="4807743"/>
            <a:ext cx="50308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576262" y="5279231"/>
            <a:ext cx="25654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3141761" y="5279231"/>
            <a:ext cx="34431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6584900" y="5279231"/>
            <a:ext cx="50308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"/>
          <p:cNvSpPr txBox="1"/>
          <p:nvPr/>
        </p:nvSpPr>
        <p:spPr>
          <a:xfrm>
            <a:off x="571500" y="476250"/>
            <a:ext cx="58007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2942"/>
                </a:solidFill>
                <a:latin typeface="Poppins"/>
                <a:ea typeface="Poppins"/>
                <a:cs typeface="Poppins"/>
                <a:sym typeface="Poppins"/>
              </a:rPr>
              <a:t>Ciberseguridad &amp; Leyes</a:t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571500" y="1076325"/>
            <a:ext cx="55245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6" name="Google Shape;17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5"/>
          <p:cNvSpPr txBox="1"/>
          <p:nvPr/>
        </p:nvSpPr>
        <p:spPr>
          <a:xfrm>
            <a:off x="571500" y="3133725"/>
            <a:ext cx="55245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Ley 21.719 (Datos Personales):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Consentimiento granular, minimización de PII y cifrado AES-256-GCM para derechos ARCOP.</a:t>
            </a:r>
            <a:endParaRPr/>
          </a:p>
        </p:txBody>
      </p:sp>
      <p:sp>
        <p:nvSpPr>
          <p:cNvPr id="178" name="Google Shape;178;p5"/>
          <p:cNvSpPr txBox="1"/>
          <p:nvPr/>
        </p:nvSpPr>
        <p:spPr>
          <a:xfrm>
            <a:off x="571500" y="3619500"/>
            <a:ext cx="55245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Ley 21.459 &amp; Ley 21.663: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Tipificación de delitos informáticos, monitoreo de amenazas y bitácora SHA-256 encadenada.</a:t>
            </a:r>
            <a:endParaRPr/>
          </a:p>
        </p:txBody>
      </p:sp>
      <p:sp>
        <p:nvSpPr>
          <p:cNvPr id="179" name="Google Shape;179;p5"/>
          <p:cNvSpPr txBox="1"/>
          <p:nvPr/>
        </p:nvSpPr>
        <p:spPr>
          <a:xfrm>
            <a:off x="571500" y="4105275"/>
            <a:ext cx="55245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Seguridad OWASP: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Autenticación Argon2id, RBAC sin superusuario, rate-limiting y política CSP estricta.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767458"/>
            <a:ext cx="3524250" cy="21897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3875" y="2767458"/>
            <a:ext cx="3524250" cy="21897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2767458"/>
            <a:ext cx="3524250" cy="218970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6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2942"/>
                </a:solidFill>
                <a:latin typeface="Poppins"/>
                <a:ea typeface="Poppins"/>
                <a:cs typeface="Poppins"/>
                <a:sym typeface="Poppins"/>
              </a:rPr>
              <a:t>Gestión Operacional Robusta</a:t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571500" y="1076325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9" name="Google Shape;189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01212" y="604837"/>
            <a:ext cx="1919287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47875" y="3015108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6"/>
          <p:cNvSpPr txBox="1"/>
          <p:nvPr/>
        </p:nvSpPr>
        <p:spPr>
          <a:xfrm>
            <a:off x="1273492" y="3758058"/>
            <a:ext cx="21202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Reservas TTL (15 Min)</a:t>
            </a:r>
            <a:endParaRPr/>
          </a:p>
        </p:txBody>
      </p:sp>
      <p:sp>
        <p:nvSpPr>
          <p:cNvPr id="192" name="Google Shape;192;p6"/>
          <p:cNvSpPr txBox="1"/>
          <p:nvPr/>
        </p:nvSpPr>
        <p:spPr>
          <a:xfrm>
            <a:off x="771525" y="4129533"/>
            <a:ext cx="3124200" cy="579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Bloqueo temporal de productos durante el checkout que garantiza cero sobreventas y previene race-conditions.</a:t>
            </a:r>
            <a:endParaRPr/>
          </a:p>
        </p:txBody>
      </p:sp>
      <p:pic>
        <p:nvPicPr>
          <p:cNvPr descr="image.png" id="193" name="Google Shape;193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0" y="3015108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6"/>
          <p:cNvSpPr txBox="1"/>
          <p:nvPr/>
        </p:nvSpPr>
        <p:spPr>
          <a:xfrm>
            <a:off x="5105876" y="3758058"/>
            <a:ext cx="198024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Ledgers Inmutables</a:t>
            </a:r>
            <a:endParaRPr/>
          </a:p>
        </p:txBody>
      </p:sp>
      <p:sp>
        <p:nvSpPr>
          <p:cNvPr id="195" name="Google Shape;195;p6"/>
          <p:cNvSpPr txBox="1"/>
          <p:nvPr/>
        </p:nvSpPr>
        <p:spPr>
          <a:xfrm>
            <a:off x="4533900" y="4129533"/>
            <a:ext cx="3124200" cy="579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Historial inalterable de variaciones de stock y cambios de precio para análisis de elasticidad y auditoría.</a:t>
            </a:r>
            <a:endParaRPr/>
          </a:p>
        </p:txBody>
      </p:sp>
      <p:pic>
        <p:nvPicPr>
          <p:cNvPr descr="image.png" id="196" name="Google Shape;196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72625" y="3015108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6"/>
          <p:cNvSpPr txBox="1"/>
          <p:nvPr/>
        </p:nvSpPr>
        <p:spPr>
          <a:xfrm>
            <a:off x="8598217" y="3758058"/>
            <a:ext cx="252031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Webhooks Idempotentes</a:t>
            </a:r>
            <a:endParaRPr/>
          </a:p>
        </p:txBody>
      </p:sp>
      <p:sp>
        <p:nvSpPr>
          <p:cNvPr id="198" name="Google Shape;198;p6"/>
          <p:cNvSpPr txBox="1"/>
          <p:nvPr/>
        </p:nvSpPr>
        <p:spPr>
          <a:xfrm>
            <a:off x="8296275" y="4129533"/>
            <a:ext cx="3124200" cy="579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Validación de firmas cryptográficas server-side para transacciones con Transbank y MercadoPago.</a:t>
            </a:r>
            <a:endParaRPr/>
          </a:p>
        </p:txBody>
      </p:sp>
      <p:pic>
        <p:nvPicPr>
          <p:cNvPr descr="image.png" id="199" name="Google Shape;199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219325" y="3186558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95987" y="3186558"/>
            <a:ext cx="20002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767458"/>
            <a:ext cx="3524250" cy="21897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3875" y="2767458"/>
            <a:ext cx="3524250" cy="21897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2767458"/>
            <a:ext cx="3524250" cy="2189708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7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2942"/>
                </a:solidFill>
                <a:latin typeface="Poppins"/>
                <a:ea typeface="Poppins"/>
                <a:cs typeface="Poppins"/>
                <a:sym typeface="Poppins"/>
              </a:rPr>
              <a:t>Subsistema de Inteligencia (ML)</a:t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571500" y="1076325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0" name="Google Shape;210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82212" y="604837"/>
            <a:ext cx="1538287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47875" y="3015108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7"/>
          <p:cNvSpPr txBox="1"/>
          <p:nvPr/>
        </p:nvSpPr>
        <p:spPr>
          <a:xfrm>
            <a:off x="1223486" y="3758058"/>
            <a:ext cx="222027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Forecast de Demanda</a:t>
            </a:r>
            <a:endParaRPr/>
          </a:p>
        </p:txBody>
      </p:sp>
      <p:sp>
        <p:nvSpPr>
          <p:cNvPr id="213" name="Google Shape;213;p7"/>
          <p:cNvSpPr txBox="1"/>
          <p:nvPr/>
        </p:nvSpPr>
        <p:spPr>
          <a:xfrm>
            <a:off x="771525" y="4129533"/>
            <a:ext cx="3124200" cy="579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Modelo Ridge Regression:</a:t>
            </a: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Estimación de ventas considerando la estacionalidad de productos coreanos para reabastecimiento eficiente.</a:t>
            </a:r>
            <a:endParaRPr/>
          </a:p>
        </p:txBody>
      </p:sp>
      <p:pic>
        <p:nvPicPr>
          <p:cNvPr descr="image.png" id="214" name="Google Shape;214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0" y="3015108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7"/>
          <p:cNvSpPr txBox="1"/>
          <p:nvPr/>
        </p:nvSpPr>
        <p:spPr>
          <a:xfrm>
            <a:off x="5150881" y="3758058"/>
            <a:ext cx="189023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Segmentación RFM</a:t>
            </a:r>
            <a:endParaRPr/>
          </a:p>
        </p:txBody>
      </p:sp>
      <p:sp>
        <p:nvSpPr>
          <p:cNvPr id="216" name="Google Shape;216;p7"/>
          <p:cNvSpPr txBox="1"/>
          <p:nvPr/>
        </p:nvSpPr>
        <p:spPr>
          <a:xfrm>
            <a:off x="4533900" y="4129533"/>
            <a:ext cx="3124200" cy="579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Clustering KMeans:</a:t>
            </a: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Agrupación de clientes según Recencia, Frecuencia y Valor Monetario para estrategias de fidelización.</a:t>
            </a:r>
            <a:endParaRPr/>
          </a:p>
        </p:txBody>
      </p:sp>
      <p:pic>
        <p:nvPicPr>
          <p:cNvPr descr="image.png" id="217" name="Google Shape;217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72625" y="3015108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7"/>
          <p:cNvSpPr txBox="1"/>
          <p:nvPr/>
        </p:nvSpPr>
        <p:spPr>
          <a:xfrm>
            <a:off x="8833246" y="3758058"/>
            <a:ext cx="205025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Detección de Fraude</a:t>
            </a:r>
            <a:endParaRPr/>
          </a:p>
        </p:txBody>
      </p:sp>
      <p:sp>
        <p:nvSpPr>
          <p:cNvPr id="219" name="Google Shape;219;p7"/>
          <p:cNvSpPr txBox="1"/>
          <p:nvPr/>
        </p:nvSpPr>
        <p:spPr>
          <a:xfrm>
            <a:off x="8296275" y="4129533"/>
            <a:ext cx="3124200" cy="579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Isolation Forest:</a:t>
            </a: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Identificación en tiempo real de anomalías transaccionales e intentos no autorizados de Account Takeover.</a:t>
            </a:r>
            <a:endParaRPr/>
          </a:p>
        </p:txBody>
      </p:sp>
      <p:pic>
        <p:nvPicPr>
          <p:cNvPr descr="image.png" id="220" name="Google Shape;220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219325" y="3186558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53125" y="3186558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715500" y="3186558"/>
            <a:ext cx="28575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795587"/>
            <a:ext cx="4229100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8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2942"/>
                </a:solidFill>
                <a:latin typeface="Poppins"/>
                <a:ea typeface="Poppins"/>
                <a:cs typeface="Poppins"/>
                <a:sym typeface="Poppins"/>
              </a:rPr>
              <a:t>Capacidad del Panel de Inteligencia</a:t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571500" y="1076325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0" name="Google Shape;23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29875" y="604837"/>
            <a:ext cx="11906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8"/>
          <p:cNvSpPr txBox="1"/>
          <p:nvPr/>
        </p:nvSpPr>
        <p:spPr>
          <a:xfrm>
            <a:off x="952500" y="3176587"/>
            <a:ext cx="34671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FBBF24"/>
                </a:solidFill>
                <a:latin typeface="Poppins"/>
                <a:ea typeface="Poppins"/>
                <a:cs typeface="Poppins"/>
                <a:sym typeface="Poppins"/>
              </a:rPr>
              <a:t>10</a:t>
            </a:r>
            <a:endParaRPr/>
          </a:p>
        </p:txBody>
      </p:sp>
      <p:sp>
        <p:nvSpPr>
          <p:cNvPr id="232" name="Google Shape;232;p8"/>
          <p:cNvSpPr txBox="1"/>
          <p:nvPr/>
        </p:nvSpPr>
        <p:spPr>
          <a:xfrm>
            <a:off x="952500" y="4319587"/>
            <a:ext cx="3467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Vistas Analíticas Interactivas</a:t>
            </a:r>
            <a:endParaRPr/>
          </a:p>
        </p:txBody>
      </p:sp>
      <p:sp>
        <p:nvSpPr>
          <p:cNvPr id="233" name="Google Shape;233;p8"/>
          <p:cNvSpPr txBox="1"/>
          <p:nvPr/>
        </p:nvSpPr>
        <p:spPr>
          <a:xfrm>
            <a:off x="5705475" y="2847975"/>
            <a:ext cx="59150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~9,000 Pedidos Sintéticos: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Generación de dataset realista para validación de algoritmos ML y rendimiento de DB.</a:t>
            </a:r>
            <a:endParaRPr/>
          </a:p>
        </p:txBody>
      </p:sp>
      <p:sp>
        <p:nvSpPr>
          <p:cNvPr id="234" name="Google Shape;234;p8"/>
          <p:cNvSpPr txBox="1"/>
          <p:nvPr/>
        </p:nvSpPr>
        <p:spPr>
          <a:xfrm>
            <a:off x="5705475" y="3524250"/>
            <a:ext cx="59150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IA Responsable: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El modelo realiza sugerencias analíticas pero la decisión final la toma el equipo humano.</a:t>
            </a:r>
            <a:endParaRPr/>
          </a:p>
        </p:txBody>
      </p:sp>
      <p:sp>
        <p:nvSpPr>
          <p:cNvPr id="235" name="Google Shape;235;p8"/>
          <p:cNvSpPr txBox="1"/>
          <p:nvPr/>
        </p:nvSpPr>
        <p:spPr>
          <a:xfrm>
            <a:off x="5705475" y="4200525"/>
            <a:ext cx="59150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Cero Latencia en Ventas: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Proceso de entrenamiento fuera del servidor web principal (GitHub Actions Cron).</a:t>
            </a:r>
            <a:endParaRPr/>
          </a:p>
        </p:txBody>
      </p:sp>
      <p:pic>
        <p:nvPicPr>
          <p:cNvPr descr="image.png" id="236" name="Google Shape;23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76850" y="28575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76850" y="35337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76850" y="4210050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3" name="Google Shape;24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764208"/>
            <a:ext cx="11049000" cy="39010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773733"/>
            <a:ext cx="11029950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526208"/>
            <a:ext cx="11029950" cy="782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309044"/>
            <a:ext cx="11029950" cy="782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091880"/>
            <a:ext cx="11029950" cy="782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874716"/>
            <a:ext cx="1102995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655225" y="2736639"/>
            <a:ext cx="1833562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00712" y="3514725"/>
            <a:ext cx="1833562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696200" y="4297560"/>
            <a:ext cx="1833562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91687" y="5084266"/>
            <a:ext cx="1843087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9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2942"/>
                </a:solidFill>
                <a:latin typeface="Poppins"/>
                <a:ea typeface="Poppins"/>
                <a:cs typeface="Poppins"/>
                <a:sym typeface="Poppins"/>
              </a:rPr>
              <a:t>Carta Gantt &amp; Planificación del Proyecto</a:t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571500" y="1076325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5" name="Google Shape;255;p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448925" y="604837"/>
            <a:ext cx="11715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9"/>
          <p:cNvSpPr txBox="1"/>
          <p:nvPr/>
        </p:nvSpPr>
        <p:spPr>
          <a:xfrm>
            <a:off x="771525" y="1888033"/>
            <a:ext cx="27146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Fase / Módulo del Proyecto</a:t>
            </a: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3619500" y="1773733"/>
            <a:ext cx="9525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 txBox="1"/>
          <p:nvPr/>
        </p:nvSpPr>
        <p:spPr>
          <a:xfrm>
            <a:off x="3771900" y="1888033"/>
            <a:ext cx="170973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Fase 1: Fundación </a:t>
            </a:r>
            <a:r>
              <a:rPr b="0" i="0" lang="en-US" sz="1125" u="none" cap="none" strike="noStrik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S1 - S4</a:t>
            </a: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5614987" y="1773733"/>
            <a:ext cx="9525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 txBox="1"/>
          <p:nvPr/>
        </p:nvSpPr>
        <p:spPr>
          <a:xfrm>
            <a:off x="5767387" y="1888033"/>
            <a:ext cx="170973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Fase 2: Core E-Commerce </a:t>
            </a:r>
            <a:r>
              <a:rPr b="0" i="0" lang="en-US" sz="1125" u="none" cap="none" strike="noStrik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S5 - S8</a:t>
            </a: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7610475" y="1773733"/>
            <a:ext cx="9525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 txBox="1"/>
          <p:nvPr/>
        </p:nvSpPr>
        <p:spPr>
          <a:xfrm>
            <a:off x="7762875" y="1888033"/>
            <a:ext cx="170973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Fase 3: Inteligencia &amp; BI </a:t>
            </a:r>
            <a:r>
              <a:rPr b="0" i="0" lang="en-US" sz="1125" u="none" cap="none" strike="noStrik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S9 - S14</a:t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9605962" y="1773733"/>
            <a:ext cx="9525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 txBox="1"/>
          <p:nvPr/>
        </p:nvSpPr>
        <p:spPr>
          <a:xfrm>
            <a:off x="9758362" y="1888033"/>
            <a:ext cx="170973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Fase 4: Cierre &amp; QA </a:t>
            </a:r>
            <a:r>
              <a:rPr b="0" i="0" lang="en-US" sz="1125" u="none" cap="none" strike="noStrik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S15 - S18</a:t>
            </a: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2695575" y="5817691"/>
            <a:ext cx="133350" cy="133350"/>
          </a:xfrm>
          <a:prstGeom prst="roundRect">
            <a:avLst>
              <a:gd fmla="val 21428" name="adj"/>
            </a:avLst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 txBox="1"/>
          <p:nvPr/>
        </p:nvSpPr>
        <p:spPr>
          <a:xfrm>
            <a:off x="2905125" y="5808166"/>
            <a:ext cx="952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Fundación Base</a:t>
            </a:r>
            <a:endParaRPr/>
          </a:p>
        </p:txBody>
      </p:sp>
      <p:sp>
        <p:nvSpPr>
          <p:cNvPr id="267" name="Google Shape;267;p9"/>
          <p:cNvSpPr/>
          <p:nvPr/>
        </p:nvSpPr>
        <p:spPr>
          <a:xfrm>
            <a:off x="4095750" y="5817691"/>
            <a:ext cx="133350" cy="133350"/>
          </a:xfrm>
          <a:prstGeom prst="roundRect">
            <a:avLst>
              <a:gd fmla="val 21428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 txBox="1"/>
          <p:nvPr/>
        </p:nvSpPr>
        <p:spPr>
          <a:xfrm>
            <a:off x="4305300" y="5808166"/>
            <a:ext cx="11906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Módulo Operacional</a:t>
            </a:r>
            <a:endParaRPr/>
          </a:p>
        </p:txBody>
      </p:sp>
      <p:sp>
        <p:nvSpPr>
          <p:cNvPr id="269" name="Google Shape;269;p9"/>
          <p:cNvSpPr/>
          <p:nvPr/>
        </p:nvSpPr>
        <p:spPr>
          <a:xfrm>
            <a:off x="5734050" y="5817691"/>
            <a:ext cx="133350" cy="133350"/>
          </a:xfrm>
          <a:prstGeom prst="roundRect">
            <a:avLst>
              <a:gd fmla="val 21428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 txBox="1"/>
          <p:nvPr/>
        </p:nvSpPr>
        <p:spPr>
          <a:xfrm>
            <a:off x="5943600" y="5808166"/>
            <a:ext cx="14668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Inteligencia de Negocios</a:t>
            </a: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7648575" y="5817691"/>
            <a:ext cx="133350" cy="133350"/>
          </a:xfrm>
          <a:prstGeom prst="roundRect">
            <a:avLst>
              <a:gd fmla="val 21428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 txBox="1"/>
          <p:nvPr/>
        </p:nvSpPr>
        <p:spPr>
          <a:xfrm>
            <a:off x="7858125" y="5808166"/>
            <a:ext cx="16383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Cumplimiento &amp; Despliegue</a:t>
            </a:r>
            <a:endParaRPr/>
          </a:p>
        </p:txBody>
      </p:sp>
      <p:sp>
        <p:nvSpPr>
          <p:cNvPr id="273" name="Google Shape;273;p9"/>
          <p:cNvSpPr txBox="1"/>
          <p:nvPr/>
        </p:nvSpPr>
        <p:spPr>
          <a:xfrm>
            <a:off x="771525" y="2640508"/>
            <a:ext cx="278034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F294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Infraestructura &amp; Auth</a:t>
            </a:r>
            <a:endParaRPr/>
          </a:p>
        </p:txBody>
      </p:sp>
      <p:sp>
        <p:nvSpPr>
          <p:cNvPr id="274" name="Google Shape;274;p9"/>
          <p:cNvSpPr txBox="1"/>
          <p:nvPr/>
        </p:nvSpPr>
        <p:spPr>
          <a:xfrm>
            <a:off x="771525" y="2888158"/>
            <a:ext cx="2647950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Esquema Prisma, Neon PostgreSQL, Argon2id &amp; 2FA TOTP</a:t>
            </a:r>
            <a:endParaRPr/>
          </a:p>
        </p:txBody>
      </p:sp>
      <p:sp>
        <p:nvSpPr>
          <p:cNvPr id="275" name="Google Shape;275;p9"/>
          <p:cNvSpPr txBox="1"/>
          <p:nvPr/>
        </p:nvSpPr>
        <p:spPr>
          <a:xfrm>
            <a:off x="771525" y="3423344"/>
            <a:ext cx="278034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F294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E-Commerce &amp; Pagos</a:t>
            </a:r>
            <a:endParaRPr/>
          </a:p>
        </p:txBody>
      </p:sp>
      <p:sp>
        <p:nvSpPr>
          <p:cNvPr id="276" name="Google Shape;276;p9"/>
          <p:cNvSpPr txBox="1"/>
          <p:nvPr/>
        </p:nvSpPr>
        <p:spPr>
          <a:xfrm>
            <a:off x="771525" y="3670994"/>
            <a:ext cx="2647950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Catálogo, Carrito Zustand, Webpay/MercadoPago &amp; Stock TTL</a:t>
            </a:r>
            <a:endParaRPr/>
          </a:p>
        </p:txBody>
      </p:sp>
      <p:sp>
        <p:nvSpPr>
          <p:cNvPr id="277" name="Google Shape;277;p9"/>
          <p:cNvSpPr txBox="1"/>
          <p:nvPr/>
        </p:nvSpPr>
        <p:spPr>
          <a:xfrm>
            <a:off x="771525" y="4206180"/>
            <a:ext cx="278034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F294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Pipeline ML &amp; Dashboard BI</a:t>
            </a:r>
            <a:endParaRPr/>
          </a:p>
        </p:txBody>
      </p:sp>
      <p:sp>
        <p:nvSpPr>
          <p:cNvPr id="278" name="Google Shape;278;p9"/>
          <p:cNvSpPr txBox="1"/>
          <p:nvPr/>
        </p:nvSpPr>
        <p:spPr>
          <a:xfrm>
            <a:off x="771525" y="4453830"/>
            <a:ext cx="2647950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Modelos CRISP-DM, Ridge, KMeans &amp; 10 Vistas Analíticas</a:t>
            </a:r>
            <a:endParaRPr/>
          </a:p>
        </p:txBody>
      </p:sp>
      <p:sp>
        <p:nvSpPr>
          <p:cNvPr id="279" name="Google Shape;279;p9"/>
          <p:cNvSpPr txBox="1"/>
          <p:nvPr/>
        </p:nvSpPr>
        <p:spPr>
          <a:xfrm>
            <a:off x="771525" y="4992885"/>
            <a:ext cx="278034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F294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4. Auditoría, Pruebas &amp; Deploy</a:t>
            </a:r>
            <a:endParaRPr/>
          </a:p>
        </p:txBody>
      </p:sp>
      <p:sp>
        <p:nvSpPr>
          <p:cNvPr id="280" name="Google Shape;280;p9"/>
          <p:cNvSpPr txBox="1"/>
          <p:nvPr/>
        </p:nvSpPr>
        <p:spPr>
          <a:xfrm>
            <a:off x="771525" y="5240535"/>
            <a:ext cx="2647950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Ley 21.719 ARCOP, Tests E2E Playwright &amp; Vercel Deploy</a:t>
            </a:r>
            <a:endParaRPr/>
          </a:p>
        </p:txBody>
      </p:sp>
      <p:pic>
        <p:nvPicPr>
          <p:cNvPr descr="image.png" id="281" name="Google Shape;281;p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705225" y="2855713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738825" y="3638562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9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762875" y="4421398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9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9758362" y="5203341"/>
            <a:ext cx="104775" cy="1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0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2942"/>
                </a:solidFill>
                <a:latin typeface="Poppins"/>
                <a:ea typeface="Poppins"/>
                <a:cs typeface="Poppins"/>
                <a:sym typeface="Poppins"/>
              </a:rPr>
              <a:t>Roles &amp; Responsabilidades del Equipo</a:t>
            </a:r>
            <a:endParaRPr/>
          </a:p>
        </p:txBody>
      </p:sp>
      <p:sp>
        <p:nvSpPr>
          <p:cNvPr id="290" name="Google Shape;290;p10"/>
          <p:cNvSpPr/>
          <p:nvPr/>
        </p:nvSpPr>
        <p:spPr>
          <a:xfrm>
            <a:off x="571500" y="1076325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1" name="Google Shape;29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67887" y="604837"/>
            <a:ext cx="185261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0"/>
          <p:cNvSpPr/>
          <p:nvPr/>
        </p:nvSpPr>
        <p:spPr>
          <a:xfrm>
            <a:off x="571500" y="2581275"/>
            <a:ext cx="11049000" cy="256222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3" name="Google Shape;293;p10"/>
          <p:cNvGraphicFramePr/>
          <p:nvPr/>
        </p:nvGraphicFramePr>
        <p:xfrm>
          <a:off x="571500" y="25812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{ED10B846-4104-4DA6-8721-62E52F53C60E}</a:tableStyleId>
              </a:tblPr>
              <a:tblGrid>
                <a:gridCol w="1428600"/>
                <a:gridCol w="2738150"/>
                <a:gridCol w="6872725"/>
              </a:tblGrid>
              <a:tr h="64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Integrante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19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Rol en el Proyecto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19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Foco Técnico &amp; Entregables Clave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192C"/>
                    </a:solidFill>
                  </a:tcPr>
                </a:tc>
              </a:tr>
              <a:tr h="64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Christ Louidor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Líder Técnico / Full-Stack Developer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Arquitectura Next.js 16, Prisma ORM, pasarelas Transbank/MercadoPago y despliegue Vercel.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Vicente Donoso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 Scientist / ML Engineer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Pipeline CRISP-DM, modelos predictivos (Ridge, Isolation Forest, RFM) y 10 vistas del panel.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4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Nelson Zarate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Security &amp; Compliance Lead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Autenticación Argon2id, 2FA, cifrado AES-256, AuditLog SHA-256 y cumplimiento normativo chileno.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4" name="Google Shape;294;p10"/>
          <p:cNvSpPr/>
          <p:nvPr/>
        </p:nvSpPr>
        <p:spPr>
          <a:xfrm>
            <a:off x="576262" y="3757612"/>
            <a:ext cx="14286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2004863" y="3757612"/>
            <a:ext cx="27381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4743003" y="3757612"/>
            <a:ext cx="68727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576262" y="4443412"/>
            <a:ext cx="14286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2004863" y="4443412"/>
            <a:ext cx="27381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4743003" y="4443412"/>
            <a:ext cx="68727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576262" y="5129212"/>
            <a:ext cx="14286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2004863" y="5129212"/>
            <a:ext cx="27381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4743003" y="5129212"/>
            <a:ext cx="68727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1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2942"/>
                </a:solidFill>
                <a:latin typeface="Poppins"/>
                <a:ea typeface="Poppins"/>
                <a:cs typeface="Poppins"/>
                <a:sym typeface="Poppins"/>
              </a:rPr>
              <a:t>Factibilidad del Proyecto APT</a:t>
            </a:r>
            <a:endParaRPr/>
          </a:p>
        </p:txBody>
      </p:sp>
      <p:sp>
        <p:nvSpPr>
          <p:cNvPr id="308" name="Google Shape;308;p11"/>
          <p:cNvSpPr/>
          <p:nvPr/>
        </p:nvSpPr>
        <p:spPr>
          <a:xfrm>
            <a:off x="571500" y="1076325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9" name="Google Shape;30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6937" y="604837"/>
            <a:ext cx="183356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1"/>
          <p:cNvSpPr txBox="1"/>
          <p:nvPr/>
        </p:nvSpPr>
        <p:spPr>
          <a:xfrm>
            <a:off x="1000125" y="2995612"/>
            <a:ext cx="1062037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Factibilidad Tecnológica: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Stack maduro con SDKs oficiales para pasarelas de pago y soporte serverless.</a:t>
            </a:r>
            <a:endParaRPr/>
          </a:p>
        </p:txBody>
      </p:sp>
      <p:sp>
        <p:nvSpPr>
          <p:cNvPr id="311" name="Google Shape;311;p11"/>
          <p:cNvSpPr txBox="1"/>
          <p:nvPr/>
        </p:nvSpPr>
        <p:spPr>
          <a:xfrm>
            <a:off x="1000125" y="3429000"/>
            <a:ext cx="1062037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Factibilidad Operativa: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MLOps batch en GitHub Actions libera recursos web y garantiza alta disponibilidad.</a:t>
            </a:r>
            <a:endParaRPr/>
          </a:p>
        </p:txBody>
      </p:sp>
      <p:sp>
        <p:nvSpPr>
          <p:cNvPr id="312" name="Google Shape;312;p11"/>
          <p:cNvSpPr txBox="1"/>
          <p:nvPr/>
        </p:nvSpPr>
        <p:spPr>
          <a:xfrm>
            <a:off x="1000125" y="3862387"/>
            <a:ext cx="1062037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Factibilidad Legal: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Implementación desde el diseño de las Leyes 21.719, 21.459, 21.663, 19.496 y exigencias SII.</a:t>
            </a:r>
            <a:endParaRPr/>
          </a:p>
        </p:txBody>
      </p:sp>
      <p:sp>
        <p:nvSpPr>
          <p:cNvPr id="313" name="Google Shape;313;p11"/>
          <p:cNvSpPr txBox="1"/>
          <p:nvPr/>
        </p:nvSpPr>
        <p:spPr>
          <a:xfrm>
            <a:off x="1000125" y="4295775"/>
            <a:ext cx="1062037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Trazabilidad y Calidad: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Cobertura de pruebas unitarias (Vitest), e2e (Playwright) y análisis de código estático (CodeQL).</a:t>
            </a:r>
            <a:endParaRPr/>
          </a:p>
        </p:txBody>
      </p:sp>
      <p:pic>
        <p:nvPicPr>
          <p:cNvPr descr="image.png" id="314" name="Google Shape;31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051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4385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719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30530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2" name="Google Shape;32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41130" y="3633787"/>
            <a:ext cx="4109739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2"/>
          <p:cNvSpPr txBox="1"/>
          <p:nvPr/>
        </p:nvSpPr>
        <p:spPr>
          <a:xfrm>
            <a:off x="295275" y="1957387"/>
            <a:ext cx="116014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¿Preguntas &amp; Comentarios?</a:t>
            </a:r>
            <a:endParaRPr/>
          </a:p>
        </p:txBody>
      </p:sp>
      <p:sp>
        <p:nvSpPr>
          <p:cNvPr id="325" name="Google Shape;325;p12"/>
          <p:cNvSpPr txBox="1"/>
          <p:nvPr/>
        </p:nvSpPr>
        <p:spPr>
          <a:xfrm>
            <a:off x="571500" y="3005137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BBF24"/>
                </a:solidFill>
                <a:latin typeface="Inter Medium"/>
                <a:ea typeface="Inter Medium"/>
                <a:cs typeface="Inter Medium"/>
                <a:sym typeface="Inter Medium"/>
              </a:rPr>
              <a:t>HACHIKO STORE · Plataforma Inteligente de Gestión Empresarial</a:t>
            </a:r>
            <a:endParaRPr/>
          </a:p>
        </p:txBody>
      </p:sp>
      <p:sp>
        <p:nvSpPr>
          <p:cNvPr id="326" name="Google Shape;326;p12"/>
          <p:cNvSpPr txBox="1"/>
          <p:nvPr/>
        </p:nvSpPr>
        <p:spPr>
          <a:xfrm>
            <a:off x="571500" y="4414837"/>
            <a:ext cx="11049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Gracias por su atención | Capstone Fase 1 - Duoc UC Plaza Norte</a:t>
            </a:r>
            <a:endParaRPr/>
          </a:p>
        </p:txBody>
      </p:sp>
      <p:pic>
        <p:nvPicPr>
          <p:cNvPr descr="image.png" id="327" name="Google Shape;327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355" y="3776662"/>
            <a:ext cx="161925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